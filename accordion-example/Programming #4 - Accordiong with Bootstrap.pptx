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443" r:id="rId6"/>
    <p:sldId id="453" r:id="rId7"/>
    <p:sldId id="454" r:id="rId8"/>
    <p:sldId id="455" r:id="rId9"/>
    <p:sldId id="456" r:id="rId10"/>
    <p:sldId id="457" r:id="rId11"/>
    <p:sldId id="26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1117"/>
    <a:srgbClr val="1F1F1F"/>
    <a:srgbClr val="FFCC23"/>
    <a:srgbClr val="030004"/>
    <a:srgbClr val="0177D5"/>
    <a:srgbClr val="88E4E9"/>
    <a:srgbClr val="00B0F0"/>
    <a:srgbClr val="96F9F0"/>
    <a:srgbClr val="55D6F9"/>
    <a:srgbClr val="42EE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20"/>
    <p:restoredTop sz="91745"/>
  </p:normalViewPr>
  <p:slideViewPr>
    <p:cSldViewPr snapToGrid="0">
      <p:cViewPr>
        <p:scale>
          <a:sx n="95" d="100"/>
          <a:sy n="95" d="100"/>
        </p:scale>
        <p:origin x="1664" y="592"/>
      </p:cViewPr>
      <p:guideLst>
        <p:guide orient="horz" pos="2160"/>
        <p:guide pos="3840"/>
      </p:guideLst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79E9D1-9BF0-4590-93E9-CEBE68D7E940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401D88-D640-45B3-A274-37CE828BF5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34921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F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148F16-BF7A-4F46-8638-D8BDBA5C460F}" type="datetimeFigureOut">
              <a:rPr lang="en-FI" smtClean="0"/>
              <a:t>4/28/26</a:t>
            </a:fld>
            <a:endParaRPr lang="en-F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F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CC9347-A9CA-0B41-9C3C-7ADBB4FD3F7A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611947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5FA45-1AC5-E3A5-A021-6079BF9C0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C958F7-351D-61AB-D78C-1816D72CA6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6F3539-1718-426A-4A46-11BFAA2CC8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E07A6B-F380-B755-EF07-2B07DF06A1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CC9347-A9CA-0B41-9C3C-7ADBB4FD3F7A}" type="slidenum">
              <a:rPr lang="en-FI" smtClean="0"/>
              <a:t>2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6632262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5DCDC-64AC-FCB8-5B4A-638684245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5FDD82-0C4A-C468-22CA-F57FA1AF3D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B2343A-7E50-9903-AD86-0AF394A293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E4869A-5167-A5A9-BA09-BB1BCF304F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CC9347-A9CA-0B41-9C3C-7ADBB4FD3F7A}" type="slidenum">
              <a:rPr lang="en-FI" smtClean="0"/>
              <a:t>3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660731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56EE2-2B5D-5892-B333-83E4311EE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94E622-1A6A-5CAD-C76A-2E7788BF65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D1416D-2B14-3338-ED45-38BAED56E4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325899-54CC-CC74-FBBD-4750065992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CC9347-A9CA-0B41-9C3C-7ADBB4FD3F7A}" type="slidenum">
              <a:rPr lang="en-FI" smtClean="0"/>
              <a:t>4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8278404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1EDDD-905D-9286-D1D8-B3BB9CF84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90C9F2-721F-F08E-C30C-E0FE90337E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71DF4A-E46C-DBD4-ACDD-1F46F4452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521404-4D2E-0D58-A60E-3D75A345B4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CC9347-A9CA-0B41-9C3C-7ADBB4FD3F7A}" type="slidenum">
              <a:rPr lang="en-FI" smtClean="0"/>
              <a:t>5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6882603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7AB19-F609-C5FD-2E92-0299998D5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191E96-9480-5E45-C616-A75B276CBB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E40334-B860-FD21-D602-CB912BB24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52F71A-A2F5-59CD-A34B-8E0D73C4CA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CC9347-A9CA-0B41-9C3C-7ADBB4FD3F7A}" type="slidenum">
              <a:rPr lang="en-FI" smtClean="0"/>
              <a:t>6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9440041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6557F-CD57-F704-7BB4-08EFB68EA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2D952D-013D-A269-5F00-2DF23CB3B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ACFFE7-C6E1-607F-1C2E-7E2216497D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CE9EA5-422E-ED75-7DB5-6E37D4544A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CC9347-A9CA-0B41-9C3C-7ADBB4FD3F7A}" type="slidenum">
              <a:rPr lang="en-FI" smtClean="0"/>
              <a:t>7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6995855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47251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58492" y="4376057"/>
            <a:ext cx="7733212" cy="897385"/>
          </a:xfrm>
        </p:spPr>
        <p:txBody>
          <a:bodyPr anchor="b">
            <a:normAutofit/>
          </a:bodyPr>
          <a:lstStyle>
            <a:lvl1pPr algn="ctr">
              <a:defRPr sz="45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58492" y="5372049"/>
            <a:ext cx="7733212" cy="79362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104" y="3051005"/>
            <a:ext cx="2723605" cy="72778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0733" y="3910598"/>
            <a:ext cx="3614400" cy="930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523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85800" indent="-228600">
              <a:buFont typeface="Calibri" panose="020F0502020204030204" pitchFamily="34" charset="0"/>
              <a:buChar char="-"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1143000" indent="-228600">
              <a:buFont typeface="Calibri" panose="020F0502020204030204" pitchFamily="34" charset="0"/>
              <a:buChar char="-"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600200" indent="-228600">
              <a:buFont typeface="Calibri" panose="020F0502020204030204" pitchFamily="34" charset="0"/>
              <a:buChar char="-"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2057400" indent="-228600">
              <a:buFont typeface="Calibri" panose="020F0502020204030204" pitchFamily="34" charset="0"/>
              <a:buChar char="-"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961"/>
          <a:stretch/>
        </p:blipFill>
        <p:spPr>
          <a:xfrm>
            <a:off x="0" y="6374674"/>
            <a:ext cx="12187646" cy="48332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994" y="6453753"/>
            <a:ext cx="1199606" cy="3205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6006" y="6370057"/>
            <a:ext cx="1691640" cy="435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742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826403" cy="6858000"/>
          </a:xfrm>
          <a:prstGeom prst="rect">
            <a:avLst/>
          </a:prstGeom>
        </p:spPr>
      </p:pic>
      <p:sp>
        <p:nvSpPr>
          <p:cNvPr id="12" name="Title Placeholder 1"/>
          <p:cNvSpPr>
            <a:spLocks noGrp="1"/>
          </p:cNvSpPr>
          <p:nvPr>
            <p:ph type="title"/>
          </p:nvPr>
        </p:nvSpPr>
        <p:spPr>
          <a:xfrm>
            <a:off x="636601" y="2148840"/>
            <a:ext cx="3276600" cy="28411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994" y="6453753"/>
            <a:ext cx="1199606" cy="32055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2274" y="6370057"/>
            <a:ext cx="1691640" cy="435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526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731"/>
          <a:stretch/>
        </p:blipFill>
        <p:spPr>
          <a:xfrm>
            <a:off x="0" y="0"/>
            <a:ext cx="1225949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994" y="6453753"/>
            <a:ext cx="1199606" cy="3205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6006" y="6370057"/>
            <a:ext cx="1691640" cy="435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300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F657E-F44B-44F8-A6B2-6B7032FF1FB0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94152-224B-4EDE-8428-7082BF23D4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0971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F657E-F44B-44F8-A6B2-6B7032FF1FB0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94152-224B-4EDE-8428-7082BF23D4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4073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F657E-F44B-44F8-A6B2-6B7032FF1FB0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94152-224B-4EDE-8428-7082BF23D4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6992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F657E-F44B-44F8-A6B2-6B7032FF1FB0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94152-224B-4EDE-8428-7082BF23D4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3243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F657E-F44B-44F8-A6B2-6B7032FF1FB0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94152-224B-4EDE-8428-7082BF23D4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0622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F657E-F44B-44F8-A6B2-6B7032FF1FB0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94152-224B-4EDE-8428-7082BF23D4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6423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F657E-F44B-44F8-A6B2-6B7032FF1FB0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94152-224B-4EDE-8428-7082BF23D4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7695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2F657E-F44B-44F8-A6B2-6B7032FF1FB0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194152-224B-4EDE-8428-7082BF23D4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3241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Programming #4,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i-FI" dirty="0" err="1"/>
              <a:t>Accordion</a:t>
            </a:r>
            <a:r>
              <a:rPr lang="fi-FI" dirty="0"/>
              <a:t> </a:t>
            </a:r>
            <a:r>
              <a:rPr lang="fi-FI" dirty="0" err="1"/>
              <a:t>with</a:t>
            </a:r>
            <a:r>
              <a:rPr lang="fi-FI" dirty="0"/>
              <a:t> </a:t>
            </a:r>
            <a:r>
              <a:rPr lang="fi-FI" dirty="0" err="1"/>
              <a:t>Bootstrap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61582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0B906-4829-1C02-BAE0-15497FD14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2AFAC80-667C-5468-733A-9E40C89356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806" r="7440"/>
          <a:stretch>
            <a:fillRect/>
          </a:stretch>
        </p:blipFill>
        <p:spPr>
          <a:xfrm>
            <a:off x="133812" y="875336"/>
            <a:ext cx="3679902" cy="47088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1C93A91-2B79-7E01-7AB7-B8E906E0B7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84" r="7052" b="9537"/>
          <a:stretch>
            <a:fillRect/>
          </a:stretch>
        </p:blipFill>
        <p:spPr>
          <a:xfrm>
            <a:off x="3869469" y="875337"/>
            <a:ext cx="4079367" cy="47088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8647A36-857B-1D47-CF56-FD7717BDC93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691" r="7815" b="9537"/>
          <a:stretch>
            <a:fillRect/>
          </a:stretch>
        </p:blipFill>
        <p:spPr>
          <a:xfrm>
            <a:off x="8006573" y="875337"/>
            <a:ext cx="4079366" cy="47088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1C6098A-3C32-22D9-4506-F5C21B9ACD2F}"/>
              </a:ext>
            </a:extLst>
          </p:cNvPr>
          <p:cNvSpPr txBox="1"/>
          <p:nvPr/>
        </p:nvSpPr>
        <p:spPr>
          <a:xfrm>
            <a:off x="234175" y="5644110"/>
            <a:ext cx="30203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70C0"/>
                </a:solidFill>
                <a:latin typeface="Century Gothic" panose="020B0502020202020204" pitchFamily="34" charset="0"/>
              </a:rPr>
              <a:t>Accordion in its normal state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E164C7-B373-C8E3-65E0-DD00A6979DDC}"/>
              </a:ext>
            </a:extLst>
          </p:cNvPr>
          <p:cNvSpPr txBox="1"/>
          <p:nvPr/>
        </p:nvSpPr>
        <p:spPr>
          <a:xfrm>
            <a:off x="3989432" y="5644110"/>
            <a:ext cx="37049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70C0"/>
                </a:solidFill>
                <a:latin typeface="Century Gothic" panose="020B0502020202020204" pitchFamily="34" charset="0"/>
              </a:rPr>
              <a:t>When one of the accordion items is revealed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2DF841-B6D5-941C-66F9-CE00AAAF688D}"/>
              </a:ext>
            </a:extLst>
          </p:cNvPr>
          <p:cNvSpPr txBox="1"/>
          <p:nvPr/>
        </p:nvSpPr>
        <p:spPr>
          <a:xfrm>
            <a:off x="8202569" y="5644109"/>
            <a:ext cx="36873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70C0"/>
                </a:solidFill>
                <a:latin typeface="Century Gothic" panose="020B0502020202020204" pitchFamily="34" charset="0"/>
              </a:rPr>
              <a:t>Another accordion item revealed, and the rest are closed</a:t>
            </a:r>
          </a:p>
        </p:txBody>
      </p:sp>
    </p:spTree>
    <p:extLst>
      <p:ext uri="{BB962C8B-B14F-4D97-AF65-F5344CB8AC3E}">
        <p14:creationId xmlns:p14="http://schemas.microsoft.com/office/powerpoint/2010/main" val="2113700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5DE37-AB86-FB4B-EA87-211AF18F4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C9C0E-8664-5DBD-629F-4F7FCED34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dirty="0">
                <a:solidFill>
                  <a:srgbClr val="0070C0"/>
                </a:solidFill>
                <a:latin typeface="Century Gothic" panose="020B0502020202020204" pitchFamily="34" charset="0"/>
              </a:rPr>
              <a:t>Accordion with Bootstrap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1BFE723-9845-3295-57B8-B9DD0D56E6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ts val="1940"/>
              </a:lnSpc>
            </a:pP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Accordion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a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row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of ”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buttons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”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that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reveals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some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information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clicked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and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hides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it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clicked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again</a:t>
            </a:r>
            <a:endParaRPr lang="fi-FI" sz="1800" dirty="0">
              <a:solidFill>
                <a:srgbClr val="0070C0"/>
              </a:solidFill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ts val="1940"/>
              </a:lnSpc>
            </a:pP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These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are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always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created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a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pair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fi-FI" sz="1800" b="1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button</a:t>
            </a:r>
            <a:r>
              <a:rPr lang="fi-FI" sz="1800" b="1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 </a:t>
            </a:r>
            <a:r>
              <a:rPr lang="fi-FI" sz="1800" b="1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information</a:t>
            </a:r>
            <a:endParaRPr lang="fi-FI" sz="1800" b="1" dirty="0">
              <a:solidFill>
                <a:srgbClr val="0070C0"/>
              </a:solidFill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940"/>
              </a:lnSpc>
            </a:pP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typical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accordion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Bootstrap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will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always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contain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following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components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inside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parent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class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of </a:t>
            </a:r>
            <a:r>
              <a:rPr lang="fi-FI" sz="1800" b="1" dirty="0" err="1">
                <a:solidFill>
                  <a:srgbClr val="0070C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accordion</a:t>
            </a:r>
            <a:endParaRPr lang="fi-FI" sz="1800" b="1" dirty="0">
              <a:solidFill>
                <a:srgbClr val="0070C0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lvl="1">
              <a:lnSpc>
                <a:spcPts val="1940"/>
              </a:lnSpc>
            </a:pP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 </a:t>
            </a:r>
            <a:r>
              <a:rPr lang="fi-FI" sz="18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accordion-item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class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Every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entry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pair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of </a:t>
            </a:r>
            <a:r>
              <a:rPr lang="fi-FI" sz="1800" b="1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button</a:t>
            </a:r>
            <a:r>
              <a:rPr lang="fi-FI" sz="1800" b="1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</a:t>
            </a:r>
            <a:r>
              <a:rPr lang="fi-FI" sz="1800" b="1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information</a:t>
            </a:r>
            <a:r>
              <a:rPr lang="fi-FI" sz="1800" b="1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 a single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accordion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item</a:t>
            </a:r>
            <a:endParaRPr lang="fi-FI" sz="1800" dirty="0">
              <a:solidFill>
                <a:srgbClr val="0070C0"/>
              </a:solidFill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ts val="1940"/>
              </a:lnSpc>
            </a:pP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 </a:t>
            </a:r>
            <a:r>
              <a:rPr lang="fi-FI" sz="18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accordion-header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class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inside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18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accordion-item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class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heading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that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contains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accordion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button</a:t>
            </a:r>
            <a:endParaRPr lang="fi-FI" sz="1800" dirty="0">
              <a:solidFill>
                <a:srgbClr val="0070C0"/>
              </a:solidFill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ts val="1940"/>
              </a:lnSpc>
            </a:pP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 </a:t>
            </a:r>
            <a:r>
              <a:rPr lang="fi-FI" sz="18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accordion-button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inside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18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accordiong-header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class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button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controls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hiding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revealing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of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information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which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stored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accordion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body</a:t>
            </a:r>
            <a:endParaRPr lang="fi-FI" sz="1800" dirty="0">
              <a:solidFill>
                <a:srgbClr val="0070C0"/>
              </a:solidFill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ts val="1940"/>
              </a:lnSpc>
            </a:pP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 </a:t>
            </a:r>
            <a:r>
              <a:rPr lang="fi-FI" sz="18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accordion-collapse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class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inside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18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accordion-item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class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A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container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that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holds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accordion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body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part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that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collapses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shows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accordion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button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clicked</a:t>
            </a:r>
            <a:endParaRPr lang="fi-FI" sz="1800" dirty="0">
              <a:solidFill>
                <a:srgbClr val="0070C0"/>
              </a:solidFill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ts val="1940"/>
              </a:lnSpc>
            </a:pP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 </a:t>
            </a:r>
            <a:r>
              <a:rPr lang="fi-FI" sz="18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accordion-body</a:t>
            </a:r>
            <a:r>
              <a:rPr lang="fi-FI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class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inside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18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accordion-collapse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class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Contains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information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that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revealed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upon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clicking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accordion</a:t>
            </a:r>
            <a:r>
              <a:rPr lang="fi-FI" sz="1800" dirty="0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1800" dirty="0" err="1">
                <a:solidFill>
                  <a:srgbClr val="0070C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button</a:t>
            </a:r>
            <a:endParaRPr lang="fi-FI" sz="1800" dirty="0">
              <a:solidFill>
                <a:srgbClr val="0070C0"/>
              </a:solidFill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ts val="1940"/>
              </a:lnSpc>
            </a:pPr>
            <a:endParaRPr lang="fi-FI" sz="1800" dirty="0">
              <a:solidFill>
                <a:srgbClr val="0070C0"/>
              </a:solidFill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ts val="1940"/>
              </a:lnSpc>
            </a:pPr>
            <a:endParaRPr lang="fi-FI" sz="1800" dirty="0">
              <a:solidFill>
                <a:srgbClr val="0070C0"/>
              </a:solidFill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2630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593C7-E8BA-5C15-218A-357AED53A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C0B15-EDC7-36CA-EFE0-6E290E170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dirty="0">
                <a:solidFill>
                  <a:srgbClr val="0070C0"/>
                </a:solidFill>
                <a:latin typeface="Century Gothic" panose="020B0502020202020204" pitchFamily="34" charset="0"/>
              </a:rPr>
              <a:t>A single Accordion Item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0DBB59-1FF4-668E-0F64-01E60A330968}"/>
              </a:ext>
            </a:extLst>
          </p:cNvPr>
          <p:cNvSpPr txBox="1"/>
          <p:nvPr/>
        </p:nvSpPr>
        <p:spPr>
          <a:xfrm>
            <a:off x="271346" y="1348800"/>
            <a:ext cx="665170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&lt;div class="accordion” id=”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faqAccordion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&lt;div class="accordion-item"&gt;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&lt;h2 class="accordion-header"&gt;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&lt;button class="accordion-button collapsed" type="button" data-bs-target="#faq1" data-bs-toggle="collapse"&gt;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&lt;p&gt;What's the return policy&lt;/p&gt;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&lt;/button&gt;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&lt;/h2&gt;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&lt;div class="accordion-collapse collapse" id="faq1" data-bs-parent="#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faqAccordion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&lt;div class="accordion-body"&gt;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&lt;p&gt;30-days full refund. No questions asked.&lt;/p&gt;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&lt;/div&gt;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&lt;/div&gt;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&lt;div class="accordion-item"&gt; … &lt;/div&gt;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&lt;div class="accordion-item"&gt; … &lt;/div&gt;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&lt;/div&gt;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FEAC540-9BBC-A7F3-DE36-85AF86CAE40B}"/>
              </a:ext>
            </a:extLst>
          </p:cNvPr>
          <p:cNvSpPr/>
          <p:nvPr/>
        </p:nvSpPr>
        <p:spPr>
          <a:xfrm>
            <a:off x="264366" y="1403193"/>
            <a:ext cx="5251722" cy="193907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9C05BA-7AEB-6D7D-3192-C845AF964D3E}"/>
              </a:ext>
            </a:extLst>
          </p:cNvPr>
          <p:cNvSpPr/>
          <p:nvPr/>
        </p:nvSpPr>
        <p:spPr>
          <a:xfrm>
            <a:off x="6483750" y="1382252"/>
            <a:ext cx="5575610" cy="256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entury Gothic" panose="020B0502020202020204" pitchFamily="34" charset="0"/>
              </a:rPr>
              <a:t>The parent class that contains all the accordion items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AF57BD8-FC5C-7C45-6F41-56ACFFD14627}"/>
              </a:ext>
            </a:extLst>
          </p:cNvPr>
          <p:cNvCxnSpPr/>
          <p:nvPr/>
        </p:nvCxnSpPr>
        <p:spPr>
          <a:xfrm flipH="1">
            <a:off x="5602804" y="1519744"/>
            <a:ext cx="84749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28C7071-CBF0-A3A0-1CFC-27BB4C79AE15}"/>
              </a:ext>
            </a:extLst>
          </p:cNvPr>
          <p:cNvSpPr/>
          <p:nvPr/>
        </p:nvSpPr>
        <p:spPr>
          <a:xfrm>
            <a:off x="631448" y="1661632"/>
            <a:ext cx="3472882" cy="200000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9BC638E-B42F-60B5-CC4F-84BCDFE10E0D}"/>
              </a:ext>
            </a:extLst>
          </p:cNvPr>
          <p:cNvSpPr/>
          <p:nvPr/>
        </p:nvSpPr>
        <p:spPr>
          <a:xfrm>
            <a:off x="6350619" y="1776158"/>
            <a:ext cx="5575610" cy="256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entury Gothic" panose="020B0502020202020204" pitchFamily="34" charset="0"/>
              </a:rPr>
              <a:t>Every single pair is created inside </a:t>
            </a:r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accordion-item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A33177C-8251-5FE7-2A1A-20A6ECDAE91D}"/>
              </a:ext>
            </a:extLst>
          </p:cNvPr>
          <p:cNvSpPr/>
          <p:nvPr/>
        </p:nvSpPr>
        <p:spPr>
          <a:xfrm>
            <a:off x="798034" y="1904646"/>
            <a:ext cx="3622711" cy="200000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F3385E1-61BA-0CFF-7A25-DD70679D095B}"/>
              </a:ext>
            </a:extLst>
          </p:cNvPr>
          <p:cNvSpPr/>
          <p:nvPr/>
        </p:nvSpPr>
        <p:spPr>
          <a:xfrm>
            <a:off x="6483752" y="2224230"/>
            <a:ext cx="5575610" cy="7662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entury Gothic" panose="020B0502020202020204" pitchFamily="34" charset="0"/>
              </a:rPr>
              <a:t>The text inside the button is usually an </a:t>
            </a:r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h2 </a:t>
            </a:r>
            <a:r>
              <a:rPr lang="en-US" sz="1600" dirty="0">
                <a:solidFill>
                  <a:schemeClr val="bg1"/>
                </a:solidFill>
                <a:latin typeface="Century Gothic" panose="020B0502020202020204" pitchFamily="34" charset="0"/>
              </a:rPr>
              <a:t>heading. BS has its special class </a:t>
            </a:r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accordion-header </a:t>
            </a:r>
            <a:r>
              <a:rPr lang="en-US" sz="1600" dirty="0">
                <a:solidFill>
                  <a:schemeClr val="bg1"/>
                </a:solidFill>
                <a:latin typeface="Century Gothic" panose="020B0502020202020204" pitchFamily="34" charset="0"/>
              </a:rPr>
              <a:t>for such heading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FC6DB1B4-0E31-3AEE-1029-CCF146FA5058}"/>
              </a:ext>
            </a:extLst>
          </p:cNvPr>
          <p:cNvCxnSpPr>
            <a:cxnSpLocks/>
            <a:stCxn id="17" idx="1"/>
          </p:cNvCxnSpPr>
          <p:nvPr/>
        </p:nvCxnSpPr>
        <p:spPr>
          <a:xfrm rot="10800000">
            <a:off x="4420746" y="2004647"/>
            <a:ext cx="2063007" cy="602685"/>
          </a:xfrm>
          <a:prstGeom prst="bentConnector3">
            <a:avLst>
              <a:gd name="adj1" fmla="val 10601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7A7A600B-BF07-B92C-2067-CD63ED0038E4}"/>
              </a:ext>
            </a:extLst>
          </p:cNvPr>
          <p:cNvCxnSpPr>
            <a:cxnSpLocks/>
            <a:stCxn id="13" idx="1"/>
          </p:cNvCxnSpPr>
          <p:nvPr/>
        </p:nvCxnSpPr>
        <p:spPr>
          <a:xfrm rot="10800000">
            <a:off x="4089913" y="1754650"/>
            <a:ext cx="2260706" cy="149996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DF1BECC0-6741-6462-84BF-3EC75F5A0C1B}"/>
              </a:ext>
            </a:extLst>
          </p:cNvPr>
          <p:cNvSpPr/>
          <p:nvPr/>
        </p:nvSpPr>
        <p:spPr>
          <a:xfrm>
            <a:off x="7176303" y="3159107"/>
            <a:ext cx="4883057" cy="7084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entury Gothic" panose="020B0502020202020204" pitchFamily="34" charset="0"/>
              </a:rPr>
              <a:t>BS has a special class </a:t>
            </a:r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accordion-button</a:t>
            </a:r>
            <a:r>
              <a:rPr lang="en-US" sz="1600" dirty="0">
                <a:solidFill>
                  <a:schemeClr val="bg1"/>
                </a:solidFill>
                <a:latin typeface="Century Gothic" panose="020B0502020202020204" pitchFamily="34" charset="0"/>
              </a:rPr>
              <a:t> for the buttons. This creates an accordion specific button with the small arrow on the right corner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3A554BC6-22BB-89C9-80A9-049782B4CB0A}"/>
              </a:ext>
            </a:extLst>
          </p:cNvPr>
          <p:cNvCxnSpPr>
            <a:cxnSpLocks/>
            <a:stCxn id="29" idx="1"/>
          </p:cNvCxnSpPr>
          <p:nvPr/>
        </p:nvCxnSpPr>
        <p:spPr>
          <a:xfrm rot="10800000">
            <a:off x="4945389" y="2224232"/>
            <a:ext cx="2230915" cy="1289106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EC94D029-584F-280E-5400-CE24D3326127}"/>
              </a:ext>
            </a:extLst>
          </p:cNvPr>
          <p:cNvSpPr/>
          <p:nvPr/>
        </p:nvSpPr>
        <p:spPr>
          <a:xfrm>
            <a:off x="1046196" y="2138475"/>
            <a:ext cx="3899184" cy="200000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8D91E48-9708-A15C-8A65-2032A9E81DC8}"/>
              </a:ext>
            </a:extLst>
          </p:cNvPr>
          <p:cNvSpPr/>
          <p:nvPr/>
        </p:nvSpPr>
        <p:spPr>
          <a:xfrm>
            <a:off x="7176303" y="4005148"/>
            <a:ext cx="4883057" cy="7084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entury Gothic" panose="020B0502020202020204" pitchFamily="34" charset="0"/>
              </a:rPr>
              <a:t>The </a:t>
            </a:r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accordion-collapse </a:t>
            </a:r>
            <a:r>
              <a:rPr lang="en-US" sz="1600" dirty="0">
                <a:solidFill>
                  <a:schemeClr val="bg1"/>
                </a:solidFill>
                <a:latin typeface="Century Gothic" panose="020B0502020202020204" pitchFamily="34" charset="0"/>
              </a:rPr>
              <a:t>class creates the “collapsing” </a:t>
            </a:r>
            <a:r>
              <a:rPr lang="en-US" sz="1600" dirty="0" err="1">
                <a:solidFill>
                  <a:schemeClr val="bg1"/>
                </a:solidFill>
                <a:latin typeface="Century Gothic" panose="020B0502020202020204" pitchFamily="34" charset="0"/>
              </a:rPr>
              <a:t>behaviour</a:t>
            </a:r>
            <a:r>
              <a:rPr lang="en-US" sz="1600" dirty="0">
                <a:solidFill>
                  <a:schemeClr val="bg1"/>
                </a:solidFill>
                <a:latin typeface="Century Gothic" panose="020B0502020202020204" pitchFamily="34" charset="0"/>
              </a:rPr>
              <a:t> in the accordion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C46CC043-5061-D174-BD81-01133F128582}"/>
              </a:ext>
            </a:extLst>
          </p:cNvPr>
          <p:cNvCxnSpPr>
            <a:cxnSpLocks/>
            <a:stCxn id="39" idx="1"/>
            <a:endCxn id="41" idx="3"/>
          </p:cNvCxnSpPr>
          <p:nvPr/>
        </p:nvCxnSpPr>
        <p:spPr>
          <a:xfrm rot="10800000">
            <a:off x="4413821" y="3714827"/>
            <a:ext cx="2762483" cy="644553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B6715264-B31A-9916-B49B-0D3933F27958}"/>
              </a:ext>
            </a:extLst>
          </p:cNvPr>
          <p:cNvSpPr/>
          <p:nvPr/>
        </p:nvSpPr>
        <p:spPr>
          <a:xfrm>
            <a:off x="514636" y="3614826"/>
            <a:ext cx="3899184" cy="200000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742F82B-FF6B-71E3-6AF2-433CE823DA78}"/>
              </a:ext>
            </a:extLst>
          </p:cNvPr>
          <p:cNvSpPr/>
          <p:nvPr/>
        </p:nvSpPr>
        <p:spPr>
          <a:xfrm>
            <a:off x="6644743" y="4969665"/>
            <a:ext cx="4883057" cy="7084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accordion-body</a:t>
            </a:r>
            <a:r>
              <a:rPr lang="en-US" sz="1600" dirty="0">
                <a:solidFill>
                  <a:schemeClr val="bg1"/>
                </a:solidFill>
                <a:latin typeface="Century Gothic" panose="020B0502020202020204" pitchFamily="34" charset="0"/>
              </a:rPr>
              <a:t> is the class reserved for the part where the information is displayed after clicking the button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A6DC3D66-4161-7897-F196-37D56A4BF63D}"/>
              </a:ext>
            </a:extLst>
          </p:cNvPr>
          <p:cNvCxnSpPr>
            <a:cxnSpLocks/>
            <a:stCxn id="43" idx="1"/>
          </p:cNvCxnSpPr>
          <p:nvPr/>
        </p:nvCxnSpPr>
        <p:spPr>
          <a:xfrm rot="10800000">
            <a:off x="4270917" y="3957180"/>
            <a:ext cx="2373826" cy="1366717"/>
          </a:xfrm>
          <a:prstGeom prst="bentConnector3">
            <a:avLst>
              <a:gd name="adj1" fmla="val 42686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47D71F28-6A01-4E14-3131-0174FF76ABC6}"/>
              </a:ext>
            </a:extLst>
          </p:cNvPr>
          <p:cNvSpPr/>
          <p:nvPr/>
        </p:nvSpPr>
        <p:spPr>
          <a:xfrm>
            <a:off x="339807" y="3857179"/>
            <a:ext cx="3899184" cy="200000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944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30370-8BD1-532C-134F-89A67FBDB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3C41E-5D34-0FDD-8AED-5A78CFBF0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dirty="0">
                <a:solidFill>
                  <a:srgbClr val="0070C0"/>
                </a:solidFill>
                <a:latin typeface="Century Gothic" panose="020B0502020202020204" pitchFamily="34" charset="0"/>
              </a:rPr>
              <a:t>Accordion button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8D495D-6100-2D6C-9D9B-51A480B4EF64}"/>
              </a:ext>
            </a:extLst>
          </p:cNvPr>
          <p:cNvSpPr txBox="1"/>
          <p:nvPr/>
        </p:nvSpPr>
        <p:spPr>
          <a:xfrm>
            <a:off x="2018806" y="1583810"/>
            <a:ext cx="7576456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&lt;button class="accordion-button collapsed" 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type="button" 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data-bs-target="#faq1" 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data-bs-toggle="collapse”&gt;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8529579-ABCE-380E-8E6B-9F76DF0567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1511453"/>
              </p:ext>
            </p:extLst>
          </p:nvPr>
        </p:nvGraphicFramePr>
        <p:xfrm>
          <a:off x="438893" y="3428999"/>
          <a:ext cx="11578936" cy="25616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7233">
                  <a:extLst>
                    <a:ext uri="{9D8B030D-6E8A-4147-A177-3AD203B41FA5}">
                      <a16:colId xmlns:a16="http://schemas.microsoft.com/office/drawing/2014/main" val="2130268361"/>
                    </a:ext>
                  </a:extLst>
                </a:gridCol>
                <a:gridCol w="8171703">
                  <a:extLst>
                    <a:ext uri="{9D8B030D-6E8A-4147-A177-3AD203B41FA5}">
                      <a16:colId xmlns:a16="http://schemas.microsoft.com/office/drawing/2014/main" val="1396338758"/>
                    </a:ext>
                  </a:extLst>
                </a:gridCol>
              </a:tblGrid>
              <a:tr h="4936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Explanation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2549187"/>
                  </a:ext>
                </a:extLst>
              </a:tr>
              <a:tr h="493640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collapsed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70C0"/>
                          </a:solidFill>
                          <a:latin typeface="Century Gothic" panose="020B0502020202020204" pitchFamily="34" charset="0"/>
                          <a:cs typeface="Courier New" panose="02070309020205020404" pitchFamily="49" charset="0"/>
                        </a:rPr>
                        <a:t>Tells BS that this button should stay closed when the page loads. BS has a special style for “collapsed” buttons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1367303"/>
                  </a:ext>
                </a:extLst>
              </a:tr>
              <a:tr h="493640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data-bs-target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70C0"/>
                          </a:solidFill>
                          <a:latin typeface="Century Gothic" panose="020B0502020202020204" pitchFamily="34" charset="0"/>
                          <a:cs typeface="Courier New" panose="02070309020205020404" pitchFamily="49" charset="0"/>
                        </a:rPr>
                        <a:t>Links the button to the accordion-header with the matching 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282921"/>
                  </a:ext>
                </a:extLst>
              </a:tr>
              <a:tr h="873363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data-bs-toggle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70C0"/>
                          </a:solidFill>
                          <a:latin typeface="Century Gothic" panose="020B0502020202020204" pitchFamily="34" charset="0"/>
                          <a:cs typeface="Courier New" panose="02070309020205020404" pitchFamily="49" charset="0"/>
                        </a:rPr>
                        <a:t>Used to change the state of the button from “collapsed” to not collapsed when clicked, and vice versa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80690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0622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7F26-B02A-0EDF-7F9C-B7B8E6C02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F6292-40B8-2746-0062-832BC7A07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dirty="0">
                <a:solidFill>
                  <a:srgbClr val="0070C0"/>
                </a:solidFill>
                <a:latin typeface="Century Gothic" panose="020B0502020202020204" pitchFamily="34" charset="0"/>
              </a:rPr>
              <a:t>Accordion collapsible area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808033-4D06-F82E-2B1B-DCB63F55D548}"/>
              </a:ext>
            </a:extLst>
          </p:cNvPr>
          <p:cNvSpPr txBox="1"/>
          <p:nvPr/>
        </p:nvSpPr>
        <p:spPr>
          <a:xfrm>
            <a:off x="2018806" y="1583810"/>
            <a:ext cx="757645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&lt;div class="accordion-collapse collapse”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id="faq1" 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data-bs-parent="#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faqAccordion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0957946-E29D-1D74-23BA-886D258EAF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864931"/>
              </p:ext>
            </p:extLst>
          </p:nvPr>
        </p:nvGraphicFramePr>
        <p:xfrm>
          <a:off x="438893" y="3428999"/>
          <a:ext cx="11578936" cy="27690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7233">
                  <a:extLst>
                    <a:ext uri="{9D8B030D-6E8A-4147-A177-3AD203B41FA5}">
                      <a16:colId xmlns:a16="http://schemas.microsoft.com/office/drawing/2014/main" val="2130268361"/>
                    </a:ext>
                  </a:extLst>
                </a:gridCol>
                <a:gridCol w="8171703">
                  <a:extLst>
                    <a:ext uri="{9D8B030D-6E8A-4147-A177-3AD203B41FA5}">
                      <a16:colId xmlns:a16="http://schemas.microsoft.com/office/drawing/2014/main" val="1396338758"/>
                    </a:ext>
                  </a:extLst>
                </a:gridCol>
              </a:tblGrid>
              <a:tr h="4936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Explanation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2549187"/>
                  </a:ext>
                </a:extLst>
              </a:tr>
              <a:tr h="493640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accordion-collapse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70C0"/>
                          </a:solidFill>
                          <a:latin typeface="Century Gothic" panose="020B0502020202020204" pitchFamily="34" charset="0"/>
                          <a:cs typeface="Courier New" panose="02070309020205020404" pitchFamily="49" charset="0"/>
                        </a:rPr>
                        <a:t>BS has a specific style for the part that shows the information after the accordion button is clicked.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1367303"/>
                  </a:ext>
                </a:extLst>
              </a:tr>
              <a:tr h="493640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collapse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70C0"/>
                          </a:solidFill>
                          <a:latin typeface="Century Gothic" panose="020B0502020202020204" pitchFamily="34" charset="0"/>
                          <a:cs typeface="Courier New" panose="02070309020205020404" pitchFamily="49" charset="0"/>
                        </a:rPr>
                        <a:t>Indicates that this area is “collapsible” and meaning it can show and hide content when the accordion button is clicked.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282921"/>
                  </a:ext>
                </a:extLst>
              </a:tr>
              <a:tr h="873363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data-bs-parent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70C0"/>
                          </a:solidFill>
                          <a:latin typeface="Century Gothic" panose="020B0502020202020204" pitchFamily="34" charset="0"/>
                          <a:cs typeface="Courier New" panose="02070309020205020404" pitchFamily="49" charset="0"/>
                        </a:rPr>
                        <a:t>Links the item to the main accordion container. This makes sure that only one accordion item is open at a time.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80690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8490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6F12E-3EB9-4885-4F2A-6E0994613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5B28C-5AD9-1386-BE51-F253A033D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dirty="0">
                <a:solidFill>
                  <a:srgbClr val="0070C0"/>
                </a:solidFill>
                <a:latin typeface="Century Gothic" panose="020B0502020202020204" pitchFamily="34" charset="0"/>
              </a:rPr>
              <a:t>Hiding/Showing </a:t>
            </a:r>
            <a:r>
              <a:rPr lang="en-GB" b="0">
                <a:solidFill>
                  <a:srgbClr val="0070C0"/>
                </a:solidFill>
                <a:latin typeface="Century Gothic" panose="020B0502020202020204" pitchFamily="34" charset="0"/>
              </a:rPr>
              <a:t>accordion item</a:t>
            </a:r>
            <a:endParaRPr lang="en-GB" b="0" dirty="0">
              <a:solidFill>
                <a:srgbClr val="0070C0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EF22C6-B422-131B-8D40-7292F2092A66}"/>
              </a:ext>
            </a:extLst>
          </p:cNvPr>
          <p:cNvSpPr txBox="1"/>
          <p:nvPr/>
        </p:nvSpPr>
        <p:spPr>
          <a:xfrm>
            <a:off x="122772" y="1690688"/>
            <a:ext cx="5699804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&lt;div class="accordion-item"&gt;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&lt;h2 class="accordion-header"&gt;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&lt;button class="accordion-button collapsed" type="button" data-bs-target="#faq1" data-bs-toggle="collapse"&gt;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&lt;p&gt;What's the return policy&lt;/p&gt;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&lt;/button&gt;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&lt;/h2&gt;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&lt;div class="accordion-collapse collapse" id="faq1" data-bs-parent="#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faqAccordion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&lt;div class="accordion-body"&gt;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&lt;p&gt;30-days full refund. No questions asked.&lt;/p&gt;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&lt;/div&gt;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&lt;/div&gt;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0FCF05-A9C1-B6CC-D107-F134EE6F67E0}"/>
              </a:ext>
            </a:extLst>
          </p:cNvPr>
          <p:cNvSpPr txBox="1"/>
          <p:nvPr/>
        </p:nvSpPr>
        <p:spPr>
          <a:xfrm>
            <a:off x="6096000" y="1811710"/>
            <a:ext cx="60960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&lt;div class="accordion-item"&gt;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&lt;h2 class="accordion-header"&gt;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&lt;button class="accordion-button" type="button" data-bs-target="#faq1" data-bs-toggle="collapse"&gt;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&lt;p&gt;What's the return policy&lt;/p&gt;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&lt;/button&gt;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&lt;/h2&gt;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&lt;div class="accordion-collapse collapse show” id="faq1" data-bs-parent="#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faqAccordion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&lt;div class="accordion-body"&gt;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&lt;p&gt;30-days full refund. No questions asked.&lt;/p&gt;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&lt;/div&gt;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&lt;/div&gt;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48A991-01F7-58FF-13FF-CF9219D55CCF}"/>
              </a:ext>
            </a:extLst>
          </p:cNvPr>
          <p:cNvSpPr txBox="1"/>
          <p:nvPr/>
        </p:nvSpPr>
        <p:spPr>
          <a:xfrm>
            <a:off x="122772" y="5167312"/>
            <a:ext cx="49602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latin typeface="Century Gothic" panose="020B0502020202020204" pitchFamily="34" charset="0"/>
              </a:rPr>
              <a:t>When the page loads, this accordion item will be in “closed state” because of the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collapsed</a:t>
            </a:r>
            <a:r>
              <a:rPr lang="en-US" dirty="0">
                <a:solidFill>
                  <a:srgbClr val="0070C0"/>
                </a:solidFill>
                <a:latin typeface="Century Gothic" panose="020B0502020202020204" pitchFamily="34" charset="0"/>
              </a:rPr>
              <a:t> class and the missing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</a:t>
            </a:r>
            <a:r>
              <a:rPr lang="en-US" dirty="0">
                <a:solidFill>
                  <a:srgbClr val="0070C0"/>
                </a:solidFill>
                <a:latin typeface="Century Gothic" panose="020B0502020202020204" pitchFamily="34" charset="0"/>
              </a:rPr>
              <a:t> class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E86501-072E-D025-56DE-2A0283291ED3}"/>
              </a:ext>
            </a:extLst>
          </p:cNvPr>
          <p:cNvSpPr txBox="1"/>
          <p:nvPr/>
        </p:nvSpPr>
        <p:spPr>
          <a:xfrm>
            <a:off x="6663892" y="5167312"/>
            <a:ext cx="49602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latin typeface="Century Gothic" panose="020B0502020202020204" pitchFamily="34" charset="0"/>
              </a:rPr>
              <a:t>When the page loads, this accordion item will be in “opened state” because of the missing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collapsed</a:t>
            </a:r>
            <a:r>
              <a:rPr lang="en-US" dirty="0">
                <a:solidFill>
                  <a:srgbClr val="0070C0"/>
                </a:solidFill>
                <a:latin typeface="Century Gothic" panose="020B0502020202020204" pitchFamily="34" charset="0"/>
              </a:rPr>
              <a:t> class and the present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</a:t>
            </a:r>
            <a:r>
              <a:rPr lang="en-US" dirty="0">
                <a:solidFill>
                  <a:srgbClr val="0070C0"/>
                </a:solidFill>
                <a:latin typeface="Century Gothic" panose="020B0502020202020204" pitchFamily="34" charset="0"/>
              </a:rPr>
              <a:t> class </a:t>
            </a:r>
          </a:p>
        </p:txBody>
      </p:sp>
    </p:spTree>
    <p:extLst>
      <p:ext uri="{BB962C8B-B14F-4D97-AF65-F5344CB8AC3E}">
        <p14:creationId xmlns:p14="http://schemas.microsoft.com/office/powerpoint/2010/main" val="1660414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893796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027FF688B3C1943B4ECEC99E3BB43CC" ma:contentTypeVersion="6" ma:contentTypeDescription="Create a new document." ma:contentTypeScope="" ma:versionID="8f35fd4295288fc87acb777e64988d17">
  <xsd:schema xmlns:xsd="http://www.w3.org/2001/XMLSchema" xmlns:xs="http://www.w3.org/2001/XMLSchema" xmlns:p="http://schemas.microsoft.com/office/2006/metadata/properties" xmlns:ns2="a0e3e070-c456-4c4d-9806-ba71933c9b94" targetNamespace="http://schemas.microsoft.com/office/2006/metadata/properties" ma:root="true" ma:fieldsID="009c998687d10f23a23420e8a72ccd30" ns2:_="">
    <xsd:import namespace="a0e3e070-c456-4c4d-9806-ba71933c9b9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e3e070-c456-4c4d-9806-ba71933c9b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A55237F-7B08-4322-82A5-9544F45BA73F}">
  <ds:schemaRefs>
    <ds:schemaRef ds:uri="a0e3e070-c456-4c4d-9806-ba71933c9b9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BE236E2-653B-4DD0-93F6-EEFE4C29E14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641F331-CFBC-4741-A8A8-27A1AC52B870}">
  <ds:schemaRefs>
    <ds:schemaRef ds:uri="http://purl.org/dc/terms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a0e3e070-c456-4c4d-9806-ba71933c9b94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16797</TotalTime>
  <Words>853</Words>
  <Application>Microsoft Macintosh PowerPoint</Application>
  <PresentationFormat>Widescreen</PresentationFormat>
  <Paragraphs>96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Century Gothic</vt:lpstr>
      <vt:lpstr>Courier New</vt:lpstr>
      <vt:lpstr>Office Theme</vt:lpstr>
      <vt:lpstr>Programming #4, 2026</vt:lpstr>
      <vt:lpstr>PowerPoint Presentation</vt:lpstr>
      <vt:lpstr>Accordion with Bootstrap</vt:lpstr>
      <vt:lpstr>A single Accordion Item</vt:lpstr>
      <vt:lpstr>Accordion button</vt:lpstr>
      <vt:lpstr>Accordion collapsible area</vt:lpstr>
      <vt:lpstr>Hiding/Showing accordion item</vt:lpstr>
      <vt:lpstr>End</vt:lpstr>
    </vt:vector>
  </TitlesOfParts>
  <Company>University of Oulu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Tanja Sauvola</dc:creator>
  <cp:lastModifiedBy>Prabhat Ram</cp:lastModifiedBy>
  <cp:revision>902</cp:revision>
  <cp:lastPrinted>2026-04-28T01:51:56Z</cp:lastPrinted>
  <dcterms:created xsi:type="dcterms:W3CDTF">2018-09-18T06:33:14Z</dcterms:created>
  <dcterms:modified xsi:type="dcterms:W3CDTF">2026-04-28T04:41:48Z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0x010100B027FF688B3C1943B4ECEC99E3BB43CC</vt:lpwstr>
  </property>
</Properties>
</file>